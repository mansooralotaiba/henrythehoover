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457200"/>
            <a:ext cx="0" cy="5943600"/>
          </a:xfrm>
          <a:prstGeom prst="line">
            <a:avLst/>
          </a:prstGeom>
          <a:noFill/>
          <a:ln w="6350">
            <a:solidFill>
              <a:srgbClr val="1A1D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91272" y="457200"/>
            <a:ext cx="0" cy="5943600"/>
          </a:xfrm>
          <a:prstGeom prst="line">
            <a:avLst/>
          </a:prstGeom>
          <a:noFill/>
          <a:ln w="6350">
            <a:solidFill>
              <a:srgbClr val="1A1D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93024" y="457200"/>
            <a:ext cx="0" cy="5943600"/>
          </a:xfrm>
          <a:prstGeom prst="line">
            <a:avLst/>
          </a:prstGeom>
          <a:noFill/>
          <a:ln w="6350">
            <a:solidFill>
              <a:srgbClr val="1A1D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94776" y="457200"/>
            <a:ext cx="0" cy="5943600"/>
          </a:xfrm>
          <a:prstGeom prst="line">
            <a:avLst/>
          </a:prstGeom>
          <a:noFill/>
          <a:ln w="6350">
            <a:solidFill>
              <a:srgbClr val="1A1D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96528" y="457200"/>
            <a:ext cx="0" cy="5943600"/>
          </a:xfrm>
          <a:prstGeom prst="line">
            <a:avLst/>
          </a:prstGeom>
          <a:noFill/>
          <a:ln w="6350">
            <a:solidFill>
              <a:srgbClr val="1A1D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98280" y="457200"/>
            <a:ext cx="0" cy="5943600"/>
          </a:xfrm>
          <a:prstGeom prst="line">
            <a:avLst/>
          </a:prstGeom>
          <a:noFill/>
          <a:ln w="6350">
            <a:solidFill>
              <a:srgbClr val="1A1D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00032" y="457200"/>
            <a:ext cx="0" cy="5943600"/>
          </a:xfrm>
          <a:prstGeom prst="line">
            <a:avLst/>
          </a:prstGeom>
          <a:noFill/>
          <a:ln w="6350">
            <a:solidFill>
              <a:srgbClr val="1A1D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01784" y="457200"/>
            <a:ext cx="0" cy="5943600"/>
          </a:xfrm>
          <a:prstGeom prst="line">
            <a:avLst/>
          </a:prstGeom>
          <a:noFill/>
          <a:ln w="6350">
            <a:solidFill>
              <a:srgbClr val="1A1D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03536" y="457200"/>
            <a:ext cx="0" cy="5943600"/>
          </a:xfrm>
          <a:prstGeom prst="line">
            <a:avLst/>
          </a:prstGeom>
          <a:noFill/>
          <a:ln w="6350">
            <a:solidFill>
              <a:srgbClr val="1A1D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05288" y="457200"/>
            <a:ext cx="0" cy="5943600"/>
          </a:xfrm>
          <a:prstGeom prst="line">
            <a:avLst/>
          </a:prstGeom>
          <a:noFill/>
          <a:ln w="6350">
            <a:solidFill>
              <a:srgbClr val="1A1D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07040" y="457200"/>
            <a:ext cx="0" cy="5943600"/>
          </a:xfrm>
          <a:prstGeom prst="line">
            <a:avLst/>
          </a:prstGeom>
          <a:noFill/>
          <a:ln w="6350">
            <a:solidFill>
              <a:srgbClr val="1A1D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08792" y="457200"/>
            <a:ext cx="0" cy="5943600"/>
          </a:xfrm>
          <a:prstGeom prst="line">
            <a:avLst/>
          </a:prstGeom>
          <a:noFill/>
          <a:ln w="6350">
            <a:solidFill>
              <a:srgbClr val="1A1D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10544" y="457200"/>
            <a:ext cx="0" cy="5943600"/>
          </a:xfrm>
          <a:prstGeom prst="line">
            <a:avLst/>
          </a:prstGeom>
          <a:noFill/>
          <a:ln w="6350">
            <a:solidFill>
              <a:srgbClr val="1A1D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512296" y="457200"/>
            <a:ext cx="0" cy="5943600"/>
          </a:xfrm>
          <a:prstGeom prst="line">
            <a:avLst/>
          </a:prstGeom>
          <a:noFill/>
          <a:ln w="6350">
            <a:solidFill>
              <a:srgbClr val="1A1D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14048" y="457200"/>
            <a:ext cx="0" cy="5943600"/>
          </a:xfrm>
          <a:prstGeom prst="line">
            <a:avLst/>
          </a:prstGeom>
          <a:noFill/>
          <a:ln w="6350">
            <a:solidFill>
              <a:srgbClr val="1A1D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0" y="457200"/>
            <a:ext cx="4572000" cy="0"/>
          </a:xfrm>
          <a:prstGeom prst="line">
            <a:avLst/>
          </a:prstGeom>
          <a:noFill/>
          <a:ln w="6350">
            <a:solidFill>
              <a:srgbClr val="1A1D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0" y="960120"/>
            <a:ext cx="4572000" cy="0"/>
          </a:xfrm>
          <a:prstGeom prst="line">
            <a:avLst/>
          </a:prstGeom>
          <a:noFill/>
          <a:ln w="6350">
            <a:solidFill>
              <a:srgbClr val="1A1D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0" y="1463040"/>
            <a:ext cx="4572000" cy="0"/>
          </a:xfrm>
          <a:prstGeom prst="line">
            <a:avLst/>
          </a:prstGeom>
          <a:noFill/>
          <a:ln w="6350">
            <a:solidFill>
              <a:srgbClr val="1A1D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0" y="1965960"/>
            <a:ext cx="4572000" cy="0"/>
          </a:xfrm>
          <a:prstGeom prst="line">
            <a:avLst/>
          </a:prstGeom>
          <a:noFill/>
          <a:ln w="6350">
            <a:solidFill>
              <a:srgbClr val="1A1D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0" y="2468880"/>
            <a:ext cx="4572000" cy="0"/>
          </a:xfrm>
          <a:prstGeom prst="line">
            <a:avLst/>
          </a:prstGeom>
          <a:noFill/>
          <a:ln w="6350">
            <a:solidFill>
              <a:srgbClr val="1A1D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0" y="2971800"/>
            <a:ext cx="4572000" cy="0"/>
          </a:xfrm>
          <a:prstGeom prst="line">
            <a:avLst/>
          </a:prstGeom>
          <a:noFill/>
          <a:ln w="6350">
            <a:solidFill>
              <a:srgbClr val="1A1D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0" y="3474720"/>
            <a:ext cx="4572000" cy="0"/>
          </a:xfrm>
          <a:prstGeom prst="line">
            <a:avLst/>
          </a:prstGeom>
          <a:noFill/>
          <a:ln w="6350">
            <a:solidFill>
              <a:srgbClr val="1A1D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89520" y="3977640"/>
            <a:ext cx="4572000" cy="0"/>
          </a:xfrm>
          <a:prstGeom prst="line">
            <a:avLst/>
          </a:prstGeom>
          <a:noFill/>
          <a:ln w="6350">
            <a:solidFill>
              <a:srgbClr val="1A1D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89520" y="4480560"/>
            <a:ext cx="4572000" cy="0"/>
          </a:xfrm>
          <a:prstGeom prst="line">
            <a:avLst/>
          </a:prstGeom>
          <a:noFill/>
          <a:ln w="6350">
            <a:solidFill>
              <a:srgbClr val="1A1D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89520" y="4983480"/>
            <a:ext cx="4572000" cy="0"/>
          </a:xfrm>
          <a:prstGeom prst="line">
            <a:avLst/>
          </a:prstGeom>
          <a:noFill/>
          <a:ln w="6350">
            <a:solidFill>
              <a:srgbClr val="1A1D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89520" y="5486400"/>
            <a:ext cx="4572000" cy="0"/>
          </a:xfrm>
          <a:prstGeom prst="line">
            <a:avLst/>
          </a:prstGeom>
          <a:noFill/>
          <a:ln w="6350">
            <a:solidFill>
              <a:srgbClr val="1A1D2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0" y="5989320"/>
            <a:ext cx="4572000" cy="0"/>
          </a:xfrm>
          <a:prstGeom prst="line">
            <a:avLst/>
          </a:prstGeom>
          <a:noFill/>
          <a:ln w="6350">
            <a:solidFill>
              <a:srgbClr val="1A1D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FUTURES TRADING TERMINAL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" y="18288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300" kern="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HENRY THE HOOVER</a:t>
            </a:r>
            <a:endParaRPr lang="en-US" sz="6000" dirty="0"/>
          </a:p>
        </p:txBody>
      </p:sp>
      <p:sp>
        <p:nvSpPr>
          <p:cNvPr id="32" name="Text 30"/>
          <p:cNvSpPr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autonomous AI · Multi-pair concurrent scanning · 11-source confluence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31520" y="4206240"/>
            <a:ext cx="2377440" cy="1463040"/>
          </a:xfrm>
          <a:prstGeom prst="rect">
            <a:avLst/>
          </a:prstGeom>
          <a:solidFill>
            <a:srgbClr val="12141B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434340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731520" y="5113325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SOURCES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0" y="4206240"/>
            <a:ext cx="2377440" cy="1463040"/>
          </a:xfrm>
          <a:prstGeom prst="rect">
            <a:avLst/>
          </a:prstGeom>
          <a:solidFill>
            <a:srgbClr val="12141B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0" y="434340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3200400" y="5113325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PAIRS WATCHED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669280" y="4206240"/>
            <a:ext cx="2377440" cy="1463040"/>
          </a:xfrm>
          <a:prstGeom prst="rect">
            <a:avLst/>
          </a:prstGeom>
          <a:solidFill>
            <a:srgbClr val="12141B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0" y="434340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B8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3200" dirty="0"/>
          </a:p>
        </p:txBody>
      </p:sp>
      <p:sp>
        <p:nvSpPr>
          <p:cNvPr id="41" name="Text 39"/>
          <p:cNvSpPr/>
          <p:nvPr/>
        </p:nvSpPr>
        <p:spPr>
          <a:xfrm>
            <a:off x="5669280" y="5113325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EXCHANGES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138160" y="4206240"/>
            <a:ext cx="2377440" cy="1463040"/>
          </a:xfrm>
          <a:prstGeom prst="rect">
            <a:avLst/>
          </a:prstGeom>
          <a:solidFill>
            <a:srgbClr val="12141B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38160" y="434340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9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24/7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8138160" y="5113325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AUTONOMOUS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3152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henrythehoover.com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HENRY?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trading assistant for crypto futures + spot gold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6217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Henry scans futures markets 24/7, generates trade signals using </a:t>
            </a:r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</a:t>
            </a:r>
            <a:pPr indent="0" marL="0">
              <a:buNone/>
            </a:pPr>
            <a:r>
              <a:rPr lang="en-US" sz="14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monitors entries and exits in real time, and posts everything to Discord and your phone.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</a:t>
            </a:r>
            <a:pPr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</a:t>
            </a:r>
            <a:pPr indent="0" marL="0">
              <a:buNone/>
            </a:pPr>
            <a:r>
              <a:rPr lang="en-US" sz="14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You don't need a browser open. Trades you didn't see still get logged, alerted, and journaled.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prompts layer </a:t>
            </a:r>
            <a:pPr indent="0" marL="0">
              <a:buNone/>
            </a:pPr>
            <a:r>
              <a:rPr lang="en-US" sz="14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distinct data sources</a:t>
            </a:r>
            <a:pPr indent="0" marL="0">
              <a:buNone/>
            </a:pPr>
            <a:r>
              <a:rPr lang="en-US" sz="14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every signal — institutional-grade context that off-the-shelf "AI signal" services skip.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040880" y="1828800"/>
            <a:ext cx="4572000" cy="2286000"/>
          </a:xfrm>
          <a:prstGeom prst="rect">
            <a:avLst/>
          </a:prstGeom>
          <a:solidFill>
            <a:srgbClr val="12141B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1828800"/>
            <a:ext cx="73152" cy="228600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SUPPORTED (21)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0" y="2423160"/>
            <a:ext cx="4114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Crypto: BTC ETH SOL XRP DOGE AVAX AAVE PEPE BNB ADA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Crypto: DOT LINK SUI ARB OP NEAR INJ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Metals &amp; Oil: XAUT XAG XTI XBR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Spot: GOLD (Polygon XAU/USD)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40880" y="4297680"/>
            <a:ext cx="4572000" cy="1737360"/>
          </a:xfrm>
          <a:prstGeom prst="rect">
            <a:avLst/>
          </a:prstGeom>
          <a:solidFill>
            <a:srgbClr val="12141B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0" y="4297680"/>
            <a:ext cx="73152" cy="1737360"/>
          </a:xfrm>
          <a:prstGeom prst="rect">
            <a:avLst/>
          </a:prstGeom>
          <a:solidFill>
            <a:srgbClr val="FFB83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0" y="4480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0" y="489204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Weex Futures · Binance Futures · Hyperliquid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(Gold spot + DXY index)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Per-pair routing — GOLD → Polygon, others → user choice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23262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Henry The Hoover · henrythehoover.com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89920" y="64739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WHY HENRY EXISTS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futures trading at scale is broken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640080" cy="640080"/>
          </a:xfrm>
          <a:prstGeom prst="rect">
            <a:avLst/>
          </a:prstGeom>
          <a:solidFill>
            <a:srgbClr val="FF4466">
              <a:alpha val="20000"/>
            </a:srgbClr>
          </a:solidFill>
          <a:ln w="12700">
            <a:solidFill>
              <a:srgbClr val="FF44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84708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21579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trades 24/7. Manually monitoring multiple pairs across sessions is impossible without burning out or missing setups.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640080" cy="640080"/>
          </a:xfrm>
          <a:prstGeom prst="rect">
            <a:avLst/>
          </a:prstGeom>
          <a:solidFill>
            <a:srgbClr val="FF4466">
              <a:alpha val="20000"/>
            </a:srgbClr>
          </a:solidFill>
          <a:ln w="12700">
            <a:solidFill>
              <a:srgbClr val="FF44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71576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SERVICES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63040" y="302666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"AI signal" subscriptions wrap cheap LLMs around basic prompts. No multi-source context, no validation, no tracking.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640080" cy="640080"/>
          </a:xfrm>
          <a:prstGeom prst="rect">
            <a:avLst/>
          </a:prstGeom>
          <a:solidFill>
            <a:srgbClr val="FF4466">
              <a:alpha val="20000"/>
            </a:srgbClr>
          </a:solidFill>
          <a:ln w="12700">
            <a:solidFill>
              <a:srgbClr val="FF44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35844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BLINDSPOTS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63040" y="389534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Discretionary traders sleep, work, travel. The best setups always seem to fire when you can't watch the chart.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434840"/>
            <a:ext cx="640080" cy="640080"/>
          </a:xfrm>
          <a:prstGeom prst="rect">
            <a:avLst/>
          </a:prstGeom>
          <a:solidFill>
            <a:srgbClr val="FF4466">
              <a:alpha val="20000"/>
            </a:srgbClr>
          </a:solidFill>
          <a:ln w="12700">
            <a:solidFill>
              <a:srgbClr val="FF44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434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445312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BACKTEST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63040" y="476402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platforms have no way to validate prompt or strategy changes against history before going live with real money.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5303520"/>
            <a:ext cx="640080" cy="640080"/>
          </a:xfrm>
          <a:prstGeom prst="rect">
            <a:avLst/>
          </a:prstGeom>
          <a:solidFill>
            <a:srgbClr val="FF4466">
              <a:alpha val="20000"/>
            </a:srgbClr>
          </a:solidFill>
          <a:ln w="12700">
            <a:solidFill>
              <a:srgbClr val="FF44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303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53218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RISK CONTROLS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63040" y="563270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is usually external — manual position sizing, no drawdown protection, no streak detection, no automatic pauses.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23262E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Henry The Hoover · henrythehoover.com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89920" y="64739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WHY HENRY EXISTS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boring parts, keep humans in the loop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640080" cy="640080"/>
          </a:xfrm>
          <a:prstGeom prst="rect">
            <a:avLst/>
          </a:prstGeom>
          <a:solidFill>
            <a:srgbClr val="00E5A0">
              <a:alpha val="2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84708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SCANNING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21579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scans every 30 seconds, parallel across all watchlist pairs. Independent state per pair. No browser required.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640080" cy="640080"/>
          </a:xfrm>
          <a:prstGeom prst="rect">
            <a:avLst/>
          </a:prstGeom>
          <a:solidFill>
            <a:srgbClr val="00E5A0">
              <a:alpha val="2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71576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PRE-AI FILTER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63040" y="302666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confluence score evaluates each trigger before firing the expensive AI. Cuts ~40% of weak setups, saves real money on Anthropic API.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640080" cy="640080"/>
          </a:xfrm>
          <a:prstGeom prst="rect">
            <a:avLst/>
          </a:prstGeom>
          <a:solidFill>
            <a:srgbClr val="00E5A0">
              <a:alpha val="2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35844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CONTEXT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63040" y="389534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signal references 11 layered data sources: news, calendar, MTF, funding, OI, footprint, CVD, cross-broker, liquidity, BTC/DXY, trigger.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434840"/>
            <a:ext cx="640080" cy="640080"/>
          </a:xfrm>
          <a:prstGeom prst="rect">
            <a:avLst/>
          </a:prstGeom>
          <a:solidFill>
            <a:srgbClr val="00E5A0">
              <a:alpha val="2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434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445312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MONITOR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63040" y="476402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tracks the full trade lifecycle — entry hit, BE level, TP, SL, BE-stop, expiry. Logs outcomes automatically. Zero clicks.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5303520"/>
            <a:ext cx="640080" cy="640080"/>
          </a:xfrm>
          <a:prstGeom prst="rect">
            <a:avLst/>
          </a:prstGeom>
          <a:solidFill>
            <a:srgbClr val="00E5A0">
              <a:alpha val="2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303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53218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63040" y="563270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 SLs in 24h on a pair → 6h pause. After 3 SLs across pairs in 4h → 2h global pause. Bot can't revenge-trade itself into a hole.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23262E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Henry The Hoover · henrythehoover.com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89920" y="64739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↔ Express server on Railway ↔ Supabase + external APIs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2103120"/>
            <a:ext cx="2743200" cy="1097280"/>
          </a:xfrm>
          <a:prstGeom prst="rect">
            <a:avLst/>
          </a:prstGeom>
          <a:solidFill>
            <a:srgbClr val="12141B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514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Manual analysis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monitor / Performance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2103120"/>
            <a:ext cx="2743200" cy="1097280"/>
          </a:xfrm>
          <a:prstGeom prst="rect">
            <a:avLst/>
          </a:prstGeom>
          <a:solidFill>
            <a:srgbClr val="12141B"/>
          </a:solidFill>
          <a:ln w="25400">
            <a:solidFill>
              <a:srgbClr val="00E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 SERVER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2514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hosting / Node 22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loop / Trade monitor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321040" y="2103120"/>
            <a:ext cx="2743200" cy="1097280"/>
          </a:xfrm>
          <a:prstGeom prst="rect">
            <a:avLst/>
          </a:prstGeom>
          <a:solidFill>
            <a:srgbClr val="12141B"/>
          </a:solidFill>
          <a:ln w="25400">
            <a:solidFill>
              <a:srgbClr val="FFB8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B8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21040" y="2514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(HTTPOnly cookies)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+ push subs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0" y="2651760"/>
            <a:ext cx="86868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23317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 / SSE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52360" y="2651760"/>
            <a:ext cx="868680" cy="0"/>
          </a:xfrm>
          <a:prstGeom prst="line">
            <a:avLst/>
          </a:prstGeom>
          <a:noFill/>
          <a:ln w="25400">
            <a:solidFill>
              <a:srgbClr val="00E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23317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service_role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3749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EXTERNAL SERVICES (called by server)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160520"/>
            <a:ext cx="1554480" cy="1005840"/>
          </a:xfrm>
          <a:prstGeom prst="rect">
            <a:avLst/>
          </a:prstGeom>
          <a:solidFill>
            <a:srgbClr val="12141B"/>
          </a:solidFill>
          <a:ln w="12700">
            <a:solidFill>
              <a:srgbClr val="996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251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9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572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417320" y="4160520"/>
            <a:ext cx="0" cy="-777240"/>
          </a:xfrm>
          <a:prstGeom prst="line">
            <a:avLst/>
          </a:prstGeom>
          <a:noFill/>
          <a:ln w="12700">
            <a:solidFill>
              <a:srgbClr val="9966FF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3017520" y="4160520"/>
            <a:ext cx="1554480" cy="1005840"/>
          </a:xfrm>
          <a:prstGeom prst="rect">
            <a:avLst/>
          </a:prstGeom>
          <a:solidFill>
            <a:srgbClr val="12141B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4251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WEEX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17520" y="4572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Futures candles + ticker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94760" y="4160520"/>
            <a:ext cx="0" cy="-777240"/>
          </a:xfrm>
          <a:prstGeom prst="line">
            <a:avLst/>
          </a:prstGeom>
          <a:noFill/>
          <a:ln w="12700">
            <a:solidFill>
              <a:srgbClr val="00D4FF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5394960" y="4160520"/>
            <a:ext cx="1554480" cy="1005840"/>
          </a:xfrm>
          <a:prstGeom prst="rect">
            <a:avLst/>
          </a:prstGeom>
          <a:solidFill>
            <a:srgbClr val="12141B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94960" y="4251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B8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94960" y="4572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Futures + funding + OI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72200" y="4160520"/>
            <a:ext cx="0" cy="-777240"/>
          </a:xfrm>
          <a:prstGeom prst="line">
            <a:avLst/>
          </a:prstGeom>
          <a:noFill/>
          <a:ln w="12700">
            <a:solidFill>
              <a:srgbClr val="FFB830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7772400" y="4160520"/>
            <a:ext cx="1554480" cy="1005840"/>
          </a:xfrm>
          <a:prstGeom prst="rect">
            <a:avLst/>
          </a:prstGeom>
          <a:solidFill>
            <a:srgbClr val="12141B"/>
          </a:solidFill>
          <a:ln w="12700">
            <a:solidFill>
              <a:srgbClr val="9966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0" y="4251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9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HYPERLIQUID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72400" y="4572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 API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549640" y="4160520"/>
            <a:ext cx="0" cy="-777240"/>
          </a:xfrm>
          <a:prstGeom prst="line">
            <a:avLst/>
          </a:prstGeom>
          <a:noFill/>
          <a:ln w="12700">
            <a:solidFill>
              <a:srgbClr val="9966FF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10149840" y="4160520"/>
            <a:ext cx="1554480" cy="1005840"/>
          </a:xfrm>
          <a:prstGeom prst="rect">
            <a:avLst/>
          </a:prstGeom>
          <a:solidFill>
            <a:srgbClr val="12141B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149840" y="4251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POLYGON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149840" y="4572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+ DXY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927080" y="4160520"/>
            <a:ext cx="0" cy="-777240"/>
          </a:xfrm>
          <a:prstGeom prst="line">
            <a:avLst/>
          </a:prstGeom>
          <a:noFill/>
          <a:ln w="12700">
            <a:solidFill>
              <a:srgbClr val="00E5A0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1097280" y="5577840"/>
            <a:ext cx="10058400" cy="914400"/>
          </a:xfrm>
          <a:prstGeom prst="rect">
            <a:avLst/>
          </a:prstGeom>
          <a:solidFill>
            <a:srgbClr val="12141B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80160" y="5669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OUTBOUND ALERTS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28016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Discord webhooks (auto-scan / status / journal)  ·  Web Push (VAPID-signed) for phone alerts  ·  SSE live prices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23262E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Henry The Hoover · henrythehoover.com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789920" y="64739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PIPELINE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TRADING PIPELINE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steps from raw candles to journaled outcome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1676400" cy="3657600"/>
          </a:xfrm>
          <a:prstGeom prst="rect">
            <a:avLst/>
          </a:prstGeom>
          <a:solidFill>
            <a:srgbClr val="12141B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40280"/>
            <a:ext cx="167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149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DETECTION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520440"/>
            <a:ext cx="140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scans 30 candles every 30s for BOS (break of structure) or sweep patterns.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16480" y="3931920"/>
            <a:ext cx="137160" cy="0"/>
          </a:xfrm>
          <a:prstGeom prst="line">
            <a:avLst/>
          </a:prstGeom>
          <a:noFill/>
          <a:ln w="19050">
            <a:solidFill>
              <a:srgbClr val="5A5F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3640" y="2103120"/>
            <a:ext cx="1676400" cy="3657600"/>
          </a:xfrm>
          <a:prstGeom prst="rect">
            <a:avLst/>
          </a:prstGeom>
          <a:solidFill>
            <a:srgbClr val="12141B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3640" y="2240280"/>
            <a:ext cx="167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545080" y="2788920"/>
            <a:ext cx="149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PRE-AI FILTER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90800" y="3520440"/>
            <a:ext cx="140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0–85 from 6 components. Reject if &lt; 45. Saves Anthropic spend on weak triggers.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30040" y="3931920"/>
            <a:ext cx="137160" cy="0"/>
          </a:xfrm>
          <a:prstGeom prst="line">
            <a:avLst/>
          </a:prstGeom>
          <a:noFill/>
          <a:ln w="19050">
            <a:solidFill>
              <a:srgbClr val="5A5F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67200" y="2103120"/>
            <a:ext cx="1676400" cy="3657600"/>
          </a:xfrm>
          <a:prstGeom prst="rect">
            <a:avLst/>
          </a:prstGeom>
          <a:solidFill>
            <a:srgbClr val="12141B"/>
          </a:solidFill>
          <a:ln w="12700">
            <a:solidFill>
              <a:srgbClr val="996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67200" y="2240280"/>
            <a:ext cx="167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9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358640" y="2788920"/>
            <a:ext cx="149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9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04360" y="3520440"/>
            <a:ext cx="140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4.6 + 11-source context generates JSON signal: entry / SL / TP / RR / confidence / be_note.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3931920"/>
            <a:ext cx="137160" cy="0"/>
          </a:xfrm>
          <a:prstGeom prst="line">
            <a:avLst/>
          </a:prstGeom>
          <a:noFill/>
          <a:ln w="19050">
            <a:solidFill>
              <a:srgbClr val="5A5F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2103120"/>
            <a:ext cx="1676400" cy="3657600"/>
          </a:xfrm>
          <a:prstGeom prst="rect">
            <a:avLst/>
          </a:prstGeom>
          <a:solidFill>
            <a:srgbClr val="12141B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2240280"/>
            <a:ext cx="167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B8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172200" y="2788920"/>
            <a:ext cx="149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3520440"/>
            <a:ext cx="140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RR&lt;1.5 → NO TRADE. Wrong-side BE notes auto-corrected. Levels re-checked client + server.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57160" y="3931920"/>
            <a:ext cx="137160" cy="0"/>
          </a:xfrm>
          <a:prstGeom prst="line">
            <a:avLst/>
          </a:prstGeom>
          <a:noFill/>
          <a:ln w="19050">
            <a:solidFill>
              <a:srgbClr val="5A5F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94320" y="2103120"/>
            <a:ext cx="1676400" cy="3657600"/>
          </a:xfrm>
          <a:prstGeom prst="rect">
            <a:avLst/>
          </a:prstGeom>
          <a:solidFill>
            <a:srgbClr val="12141B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94320" y="2240280"/>
            <a:ext cx="167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7985760" y="2788920"/>
            <a:ext cx="149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MONITOR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31480" y="3520440"/>
            <a:ext cx="140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tracks price every 30s for entry hit, BE level, TP, SL, BE-stop, expiry — per pair.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570720" y="3931920"/>
            <a:ext cx="137160" cy="0"/>
          </a:xfrm>
          <a:prstGeom prst="line">
            <a:avLst/>
          </a:prstGeom>
          <a:noFill/>
          <a:ln w="19050">
            <a:solidFill>
              <a:srgbClr val="5A5F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707880" y="2103120"/>
            <a:ext cx="1676400" cy="3657600"/>
          </a:xfrm>
          <a:prstGeom prst="rect">
            <a:avLst/>
          </a:prstGeom>
          <a:solidFill>
            <a:srgbClr val="12141B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07880" y="2240280"/>
            <a:ext cx="167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9799320" y="2788920"/>
            <a:ext cx="149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LOGGING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845040" y="3520440"/>
            <a:ext cx="140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Auto-saves to Supabase, posts journal embed to Discord, updates web journal + dashboard.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spc="100" kern="0" dirty="0">
                <a:solidFill>
                  <a:srgbClr val="FFB8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pair runs this loop independently — one pair in trade does NOT pause the others.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23262E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Henry The Hoover · henrythehoover.com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89920" y="64739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CONTEXT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11 DATA SOURCES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signal references this stack — institutional-grade context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583180" cy="1097280"/>
          </a:xfrm>
          <a:prstGeom prst="rect">
            <a:avLst/>
          </a:prstGeom>
          <a:solidFill>
            <a:srgbClr val="12141B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965960"/>
            <a:ext cx="17602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2286000"/>
            <a:ext cx="17602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 / sweep — what fired the scan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06140" y="1828800"/>
            <a:ext cx="2583180" cy="1097280"/>
          </a:xfrm>
          <a:prstGeom prst="rect">
            <a:avLst/>
          </a:prstGeom>
          <a:solidFill>
            <a:srgbClr val="12141B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43300" y="1965960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35433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91940" y="1965960"/>
            <a:ext cx="17602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MULTI-TIMEFRAME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91940" y="2286000"/>
            <a:ext cx="17602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 + 4H structure for HTF bias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1828800"/>
            <a:ext cx="2583180" cy="1097280"/>
          </a:xfrm>
          <a:prstGeom prst="rect">
            <a:avLst/>
          </a:prstGeom>
          <a:solidFill>
            <a:srgbClr val="12141B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1965960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0" y="1965960"/>
            <a:ext cx="17602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2286000"/>
            <a:ext cx="17602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correlation OR DXY (gold/oil)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938260" y="1828800"/>
            <a:ext cx="2583180" cy="1097280"/>
          </a:xfrm>
          <a:prstGeom prst="rect">
            <a:avLst/>
          </a:prstGeom>
          <a:solidFill>
            <a:srgbClr val="12141B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75420" y="1965960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3" name="Text 21"/>
          <p:cNvSpPr/>
          <p:nvPr/>
        </p:nvSpPr>
        <p:spPr>
          <a:xfrm>
            <a:off x="90754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24060" y="1965960"/>
            <a:ext cx="17602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RATE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24060" y="2286000"/>
            <a:ext cx="17602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extremes — fade signals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3108960"/>
            <a:ext cx="2583180" cy="1097280"/>
          </a:xfrm>
          <a:prstGeom prst="rect">
            <a:avLst/>
          </a:prstGeom>
          <a:solidFill>
            <a:srgbClr val="12141B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3246120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25880" y="3246120"/>
            <a:ext cx="17602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INTEREST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325880" y="3566160"/>
            <a:ext cx="17602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conviction confirmation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06140" y="3108960"/>
            <a:ext cx="2583180" cy="1097280"/>
          </a:xfrm>
          <a:prstGeom prst="rect">
            <a:avLst/>
          </a:prstGeom>
          <a:solidFill>
            <a:srgbClr val="12141B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43300" y="3246120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3" name="Text 31"/>
          <p:cNvSpPr/>
          <p:nvPr/>
        </p:nvSpPr>
        <p:spPr>
          <a:xfrm>
            <a:off x="35433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091940" y="3246120"/>
            <a:ext cx="17602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MAP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091940" y="3566160"/>
            <a:ext cx="17602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H/L + EQH/EQL + round numbers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72200" y="3108960"/>
            <a:ext cx="2583180" cy="1097280"/>
          </a:xfrm>
          <a:prstGeom prst="rect">
            <a:avLst/>
          </a:prstGeom>
          <a:solidFill>
            <a:srgbClr val="12141B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0" y="3246120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8" name="Text 36"/>
          <p:cNvSpPr/>
          <p:nvPr/>
        </p:nvSpPr>
        <p:spPr>
          <a:xfrm>
            <a:off x="630936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58000" y="3246120"/>
            <a:ext cx="17602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FLOW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58000" y="3566160"/>
            <a:ext cx="17602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Buy/sell delta · POC · imbalances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938260" y="3108960"/>
            <a:ext cx="2583180" cy="1097280"/>
          </a:xfrm>
          <a:prstGeom prst="rect">
            <a:avLst/>
          </a:prstGeom>
          <a:solidFill>
            <a:srgbClr val="12141B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75420" y="3246120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3" name="Text 41"/>
          <p:cNvSpPr/>
          <p:nvPr/>
        </p:nvSpPr>
        <p:spPr>
          <a:xfrm>
            <a:off x="907542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624060" y="3246120"/>
            <a:ext cx="17602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CVD TREND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624060" y="3566160"/>
            <a:ext cx="17602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5-window cumulative delta momentum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0080" y="4389120"/>
            <a:ext cx="2583180" cy="1097280"/>
          </a:xfrm>
          <a:prstGeom prst="rect">
            <a:avLst/>
          </a:prstGeom>
          <a:solidFill>
            <a:srgbClr val="12141B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77240" y="4526280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8" name="Text 46"/>
          <p:cNvSpPr/>
          <p:nvPr/>
        </p:nvSpPr>
        <p:spPr>
          <a:xfrm>
            <a:off x="77724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325880" y="4526280"/>
            <a:ext cx="17602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CROSS-BROKER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325880" y="4846320"/>
            <a:ext cx="17602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Weex / Binance / HL agreement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406140" y="4389120"/>
            <a:ext cx="2583180" cy="1097280"/>
          </a:xfrm>
          <a:prstGeom prst="rect">
            <a:avLst/>
          </a:prstGeom>
          <a:solidFill>
            <a:srgbClr val="12141B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543300" y="4526280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53" name="Text 51"/>
          <p:cNvSpPr/>
          <p:nvPr/>
        </p:nvSpPr>
        <p:spPr>
          <a:xfrm>
            <a:off x="354330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4091940" y="4526280"/>
            <a:ext cx="17602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HEADLINES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091940" y="4846320"/>
            <a:ext cx="17602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 feeds, sentiment-tagged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172200" y="4389120"/>
            <a:ext cx="2583180" cy="1097280"/>
          </a:xfrm>
          <a:prstGeom prst="rect">
            <a:avLst/>
          </a:prstGeom>
          <a:solidFill>
            <a:srgbClr val="12141B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09360" y="4526280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58" name="Text 56"/>
          <p:cNvSpPr/>
          <p:nvPr/>
        </p:nvSpPr>
        <p:spPr>
          <a:xfrm>
            <a:off x="630936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6858000" y="4526280"/>
            <a:ext cx="17602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858000" y="4846320"/>
            <a:ext cx="17602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High-impact events next 4 hours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B8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Macro source switches automatically: crypto pairs use BTC correlation, gold/silver/oil use DXY (inverse).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23262E"/>
          </a:solidFill>
          <a:ln/>
        </p:spPr>
      </p:sp>
      <p:sp>
        <p:nvSpPr>
          <p:cNvPr id="63" name="Text 61"/>
          <p:cNvSpPr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Henry The Hoover · henrythehoover.com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0789920" y="64739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COST OPTIMIZATION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PRE-AI CONFLUENCE FILTER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score gates expensive AI calls — saves ~40%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200400" cy="1645920"/>
          </a:xfrm>
          <a:prstGeom prst="rect">
            <a:avLst/>
          </a:prstGeom>
          <a:solidFill>
            <a:srgbClr val="12141B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32004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~40%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849270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CALLS REJECTED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3200400" cy="1645920"/>
          </a:xfrm>
          <a:prstGeom prst="rect">
            <a:avLst/>
          </a:prstGeom>
          <a:solidFill>
            <a:srgbClr val="12141B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794760"/>
            <a:ext cx="32004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4678070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SCORE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0" y="1828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SCORING COMPONENTS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0" y="2194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Zone (UTC time)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0" y="24231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+20 max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0" y="2231136"/>
            <a:ext cx="5029200" cy="292608"/>
          </a:xfrm>
          <a:prstGeom prst="rect">
            <a:avLst/>
          </a:prstGeom>
          <a:solidFill>
            <a:srgbClr val="1A1D28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0" y="2231136"/>
            <a:ext cx="5029200" cy="2926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0" y="223113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20pt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0" y="29260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Strength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0" y="31546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+20 max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0" y="2962656"/>
            <a:ext cx="5029200" cy="292608"/>
          </a:xfrm>
          <a:prstGeom prst="rect">
            <a:avLst/>
          </a:prstGeom>
          <a:solidFill>
            <a:srgbClr val="1A1D28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0" y="2962656"/>
            <a:ext cx="5029200" cy="292608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296265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20pt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0" y="3657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HTF Alignment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0" y="38862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+20 max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15200" y="3694176"/>
            <a:ext cx="5029200" cy="292608"/>
          </a:xfrm>
          <a:prstGeom prst="rect">
            <a:avLst/>
          </a:prstGeom>
          <a:solidFill>
            <a:srgbClr val="1A1D28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0" y="3694176"/>
            <a:ext cx="5029200" cy="292608"/>
          </a:xfrm>
          <a:prstGeom prst="rect">
            <a:avLst/>
          </a:prstGeom>
          <a:solidFill>
            <a:srgbClr val="9966FF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0" y="369417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20pt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0" y="4389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Bias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0" y="46177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+15 max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315200" y="4425696"/>
            <a:ext cx="5029200" cy="292608"/>
          </a:xfrm>
          <a:prstGeom prst="rect">
            <a:avLst/>
          </a:prstGeom>
          <a:solidFill>
            <a:srgbClr val="1A1D28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0" y="4425696"/>
            <a:ext cx="3771900" cy="292608"/>
          </a:xfrm>
          <a:prstGeom prst="rect">
            <a:avLst/>
          </a:prstGeom>
          <a:solidFill>
            <a:srgbClr val="FFB830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0" y="442569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15pt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0" y="5120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Momentum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14800" y="53492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+10 max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315200" y="5157216"/>
            <a:ext cx="5029200" cy="292608"/>
          </a:xfrm>
          <a:prstGeom prst="rect">
            <a:avLst/>
          </a:prstGeom>
          <a:solidFill>
            <a:srgbClr val="1A1D28"/>
          </a:solidFill>
          <a:ln/>
        </p:spPr>
      </p:sp>
      <p:sp>
        <p:nvSpPr>
          <p:cNvPr id="36" name="Shape 34"/>
          <p:cNvSpPr/>
          <p:nvPr/>
        </p:nvSpPr>
        <p:spPr>
          <a:xfrm>
            <a:off x="7315200" y="5157216"/>
            <a:ext cx="2514600" cy="2926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0" y="515721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10pt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THRESHOLD: 45 → AI fires.   Below → trigger logged, AI skipped (5min cooldown for retry).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23262E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Henry The Hoover · henrythehoover.com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789920" y="64739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SCAN ENGINE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AUTO-SCAN ENGINE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Per-pair concurrent state machines · parallel processing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486400" cy="4114800"/>
          </a:xfrm>
          <a:prstGeom prst="rect">
            <a:avLst/>
          </a:prstGeom>
          <a:solidFill>
            <a:srgbClr val="12141B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73152" cy="41148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11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50292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21-pair watchlist — toggle any subset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pair owns its own state: scanning / waiting / in-trade / cooldown / paused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processes ALL pairs in parallel every 30s (Promise.all isolation per pair)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Per-pair cooldown: 3–15 min (user-configurable)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Dead-zone override: 22:00–08:00 UTC auto-extends to 1hr (NY close → LDN open)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pair in trade does NOT pause scanning on the others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mini-card grid in browser, polled every 5s — at-a-glance visibility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shows: pair / status / price / signal levels / pair stats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card to focus that pair in the main view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1828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MINI-CARD STATES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2194560"/>
            <a:ext cx="5120640" cy="868680"/>
          </a:xfrm>
          <a:prstGeom prst="rect">
            <a:avLst/>
          </a:prstGeom>
          <a:solidFill>
            <a:srgbClr val="12141B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058400" y="2286000"/>
            <a:ext cx="1371600" cy="274320"/>
          </a:xfrm>
          <a:prstGeom prst="rect">
            <a:avLst/>
          </a:prstGeom>
          <a:solidFill>
            <a:srgbClr val="00E5A0">
              <a:alpha val="2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0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TRADE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37960" y="256032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@ 80,158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37960" y="274320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67% to TP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0" y="3200400"/>
            <a:ext cx="5120640" cy="868680"/>
          </a:xfrm>
          <a:prstGeom prst="rect">
            <a:avLst/>
          </a:prstGeom>
          <a:solidFill>
            <a:srgbClr val="12141B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058400" y="3291840"/>
            <a:ext cx="1371600" cy="274320"/>
          </a:xfrm>
          <a:prstGeom prst="rect">
            <a:avLst/>
          </a:prstGeom>
          <a:solidFill>
            <a:srgbClr val="FFB830">
              <a:alpha val="20000"/>
            </a:srgbClr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B8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37960" y="356616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@ 2,308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37960" y="37490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Distance 0.6%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0" y="4206240"/>
            <a:ext cx="5120640" cy="868680"/>
          </a:xfrm>
          <a:prstGeom prst="rect">
            <a:avLst/>
          </a:prstGeom>
          <a:solidFill>
            <a:srgbClr val="12141B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4297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058400" y="4297680"/>
            <a:ext cx="1371600" cy="274320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0" y="4297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37960" y="457200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88.35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37960" y="47548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Last: bos [62]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0" y="5212080"/>
            <a:ext cx="5120640" cy="868680"/>
          </a:xfrm>
          <a:prstGeom prst="rect">
            <a:avLst/>
          </a:prstGeom>
          <a:solidFill>
            <a:srgbClr val="12141B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5303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0058400" y="5303520"/>
            <a:ext cx="1371600" cy="274320"/>
          </a:xfrm>
          <a:prstGeom prst="rect">
            <a:avLst/>
          </a:prstGeom>
          <a:solidFill>
            <a:srgbClr val="9AA0A6">
              <a:alpha val="20000"/>
            </a:srgbClr>
          </a:solidFill>
          <a:ln w="12700">
            <a:solidFill>
              <a:srgbClr val="9AA0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0" y="5303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COOLDOWN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37960" y="55778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4,713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37960" y="576072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 in 47s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23262E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Henry The Hoover · henrythehoover.com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89920" y="64739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DEFENSIVE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layers of protection between you and a bad day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0881360" cy="777240"/>
          </a:xfrm>
          <a:prstGeom prst="rect">
            <a:avLst/>
          </a:prstGeom>
          <a:solidFill>
            <a:srgbClr val="12141B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28800"/>
            <a:ext cx="109728" cy="7772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82880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19019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RR FLOOR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54480" y="221284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signal with RR &lt; 1.5 auto-downgrades to NO TRADE. AI prompted to never stretch TP or tighten SL artificially.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0881360" cy="777240"/>
          </a:xfrm>
          <a:prstGeom prst="rect">
            <a:avLst/>
          </a:prstGeom>
          <a:solidFill>
            <a:srgbClr val="12141B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697480"/>
            <a:ext cx="109728" cy="777240"/>
          </a:xfrm>
          <a:prstGeom prst="rect">
            <a:avLst/>
          </a:prstGeom>
          <a:solidFill>
            <a:srgbClr val="FF446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6974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27706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54480" y="308152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SLs on a pair in 24h → that pair pauses 6 hours. 3 SLs across pairs in 4h → ALL pairs pause 2 hours. Persists across restarts.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10881360" cy="777240"/>
          </a:xfrm>
          <a:prstGeom prst="rect">
            <a:avLst/>
          </a:prstGeom>
          <a:solidFill>
            <a:srgbClr val="12141B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566160"/>
            <a:ext cx="109728" cy="777240"/>
          </a:xfrm>
          <a:prstGeom prst="rect">
            <a:avLst/>
          </a:prstGeom>
          <a:solidFill>
            <a:srgbClr val="FFB830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56616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8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54480" y="36393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BE-STOP DETECTION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54480" y="395020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BE alert fires + price returns to entry → auto-logged as BE outcome. No waiting for the original SL to trigger.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434840"/>
            <a:ext cx="10881360" cy="777240"/>
          </a:xfrm>
          <a:prstGeom prst="rect">
            <a:avLst/>
          </a:prstGeom>
          <a:solidFill>
            <a:srgbClr val="12141B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434840"/>
            <a:ext cx="109728" cy="777240"/>
          </a:xfrm>
          <a:prstGeom prst="rect">
            <a:avLst/>
          </a:prstGeom>
          <a:solidFill>
            <a:srgbClr val="9966FF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43484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9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554480" y="45079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9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BE-NOTE VALIDATION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554480" y="481888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sometimes generates BE on the SL side of entry. Server + browser both auto-correct to halfway-to-TP before display.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303520"/>
            <a:ext cx="10881360" cy="777240"/>
          </a:xfrm>
          <a:prstGeom prst="rect">
            <a:avLst/>
          </a:prstGeom>
          <a:solidFill>
            <a:srgbClr val="12141B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5303520"/>
            <a:ext cx="109728" cy="77724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30352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554480" y="53766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CONFIRMATION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554480" y="568756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1m/5m bullish/bearish pattern check inside the entry zone before drawing the signal card. Filters out aggressive entries.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23262E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Henry The Hoover · henrythehoover.com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789920" y="64739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LIFECYCLE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MONITORING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tracks every trade end-to-end · server is canonical Discord source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" y="2286000"/>
            <a:ext cx="1667256" cy="1554480"/>
          </a:xfrm>
          <a:prstGeom prst="rect">
            <a:avLst/>
          </a:prstGeom>
          <a:solidFill>
            <a:srgbClr val="12141B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423160"/>
            <a:ext cx="1667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153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parsed,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validated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80488" y="3063240"/>
            <a:ext cx="146304" cy="0"/>
          </a:xfrm>
          <a:prstGeom prst="line">
            <a:avLst/>
          </a:prstGeom>
          <a:noFill/>
          <a:ln w="19050">
            <a:solidFill>
              <a:srgbClr val="5A5F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26792" y="2286000"/>
            <a:ext cx="1667256" cy="1554480"/>
          </a:xfrm>
          <a:prstGeom prst="rect">
            <a:avLst/>
          </a:prstGeom>
          <a:solidFill>
            <a:srgbClr val="12141B"/>
          </a:solidFill>
          <a:ln w="19050">
            <a:solidFill>
              <a:srgbClr val="FFB8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26792" y="2423160"/>
            <a:ext cx="1667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ENTRY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90800" y="2880360"/>
            <a:ext cx="153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fill check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30s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94048" y="3063240"/>
            <a:ext cx="146304" cy="0"/>
          </a:xfrm>
          <a:prstGeom prst="line">
            <a:avLst/>
          </a:prstGeom>
          <a:noFill/>
          <a:ln w="19050">
            <a:solidFill>
              <a:srgbClr val="5A5F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0352" y="2286000"/>
            <a:ext cx="1667256" cy="1554480"/>
          </a:xfrm>
          <a:prstGeom prst="rect">
            <a:avLst/>
          </a:prstGeom>
          <a:solidFill>
            <a:srgbClr val="12141B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0352" y="2423160"/>
            <a:ext cx="1667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04360" y="2880360"/>
            <a:ext cx="153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hit alert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07608" y="3063240"/>
            <a:ext cx="146304" cy="0"/>
          </a:xfrm>
          <a:prstGeom prst="line">
            <a:avLst/>
          </a:prstGeom>
          <a:noFill/>
          <a:ln w="19050">
            <a:solidFill>
              <a:srgbClr val="5A5F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53912" y="2286000"/>
            <a:ext cx="1667256" cy="1554480"/>
          </a:xfrm>
          <a:prstGeom prst="rect">
            <a:avLst/>
          </a:prstGeom>
          <a:solidFill>
            <a:srgbClr val="12141B"/>
          </a:solidFill>
          <a:ln w="19050">
            <a:solidFill>
              <a:srgbClr val="FFB8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53912" y="2423160"/>
            <a:ext cx="1667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LEVEL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2880360"/>
            <a:ext cx="153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reaches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halfway to TP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821168" y="3063240"/>
            <a:ext cx="146304" cy="0"/>
          </a:xfrm>
          <a:prstGeom prst="line">
            <a:avLst/>
          </a:prstGeom>
          <a:noFill/>
          <a:ln w="19050">
            <a:solidFill>
              <a:srgbClr val="5A5F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67472" y="2286000"/>
            <a:ext cx="1667256" cy="1554480"/>
          </a:xfrm>
          <a:prstGeom prst="rect">
            <a:avLst/>
          </a:prstGeom>
          <a:solidFill>
            <a:srgbClr val="12141B"/>
          </a:solidFill>
          <a:ln w="19050">
            <a:solidFill>
              <a:srgbClr val="996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67472" y="2423160"/>
            <a:ext cx="1667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9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SL / BE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31480" y="2880360"/>
            <a:ext cx="153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detected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logged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634728" y="3063240"/>
            <a:ext cx="146304" cy="0"/>
          </a:xfrm>
          <a:prstGeom prst="line">
            <a:avLst/>
          </a:prstGeom>
          <a:noFill/>
          <a:ln w="19050">
            <a:solidFill>
              <a:srgbClr val="5A5F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81032" y="2286000"/>
            <a:ext cx="1667256" cy="1554480"/>
          </a:xfrm>
          <a:prstGeom prst="rect">
            <a:avLst/>
          </a:prstGeom>
          <a:solidFill>
            <a:srgbClr val="12141B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81032" y="2423160"/>
            <a:ext cx="1667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845040" y="2880360"/>
            <a:ext cx="153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embed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DB row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206240"/>
            <a:ext cx="5577840" cy="1828800"/>
          </a:xfrm>
          <a:prstGeom prst="rect">
            <a:avLst/>
          </a:prstGeom>
          <a:solidFill>
            <a:srgbClr val="12141B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206240"/>
            <a:ext cx="73152" cy="1828800"/>
          </a:xfrm>
          <a:prstGeom prst="rect">
            <a:avLst/>
          </a:prstGeom>
          <a:solidFill>
            <a:srgbClr val="FFB830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4389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DEDUPLICATION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2960" y="480060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posts to Discord auto-webhook for entry/BE/TP/SL/expiry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monitor suppresses Discord when autoMode is 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toast + push + sound still fire locally for UX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duplicate alerts when both monitors are active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55080" y="4206240"/>
            <a:ext cx="5257800" cy="1828800"/>
          </a:xfrm>
          <a:prstGeom prst="rect">
            <a:avLst/>
          </a:prstGeom>
          <a:solidFill>
            <a:srgbClr val="12141B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55080" y="4206240"/>
            <a:ext cx="73152" cy="182880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5" name="Text 33"/>
          <p:cNvSpPr/>
          <p:nvPr/>
        </p:nvSpPr>
        <p:spPr>
          <a:xfrm>
            <a:off x="6629400" y="43891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OUTCOME LOGGER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629400" y="480060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DB row with outcome + outcome_rr + outcome_at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signalId missing → backfills row from in-memory data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row missing → posts journal anyway from fallback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Idempotent: never double-posts journal on re-classification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23262E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Henry The Hoover · henrythehoover.com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89920" y="64739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NOTIFICATIONS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+ PUSH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distinct channels — every event reaches you, even with browser closed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" y="1828800"/>
            <a:ext cx="2574036" cy="4114800"/>
          </a:xfrm>
          <a:prstGeom prst="rect">
            <a:avLst/>
          </a:prstGeom>
          <a:solidFill>
            <a:srgbClr val="12141B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828800"/>
            <a:ext cx="2574036" cy="640080"/>
          </a:xfrm>
          <a:prstGeom prst="rect">
            <a:avLst/>
          </a:prstGeom>
          <a:solidFill>
            <a:srgbClr val="00D4FF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874520"/>
            <a:ext cx="2574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2194560"/>
            <a:ext cx="25740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 + AI signal posts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2651760"/>
            <a:ext cx="23545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embed: entry / SL / TP / RR / confidence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preview + key risk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by direction (LONG=green, SHORT=red)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33572" y="1828800"/>
            <a:ext cx="2574036" cy="4114800"/>
          </a:xfrm>
          <a:prstGeom prst="rect">
            <a:avLst/>
          </a:prstGeom>
          <a:solidFill>
            <a:srgbClr val="12141B"/>
          </a:solidFill>
          <a:ln w="19050">
            <a:solidFill>
              <a:srgbClr val="FFB8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33572" y="1828800"/>
            <a:ext cx="2574036" cy="640080"/>
          </a:xfrm>
          <a:prstGeom prst="rect">
            <a:avLst/>
          </a:prstGeom>
          <a:solidFill>
            <a:srgbClr val="FFB830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433572" y="1874520"/>
            <a:ext cx="2574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33572" y="2194560"/>
            <a:ext cx="25740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Periodic state digest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43300" y="2651760"/>
            <a:ext cx="23545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every 15min (configurable)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ALL watchlist pairs in one embed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scanning / waiting / in-trade / cooldown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"POST NOW" button in UI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53912" y="1828800"/>
            <a:ext cx="2574036" cy="4114800"/>
          </a:xfrm>
          <a:prstGeom prst="rect">
            <a:avLst/>
          </a:prstGeom>
          <a:solidFill>
            <a:srgbClr val="12141B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53912" y="1828800"/>
            <a:ext cx="2574036" cy="640080"/>
          </a:xfrm>
          <a:prstGeom prst="rect">
            <a:avLst/>
          </a:prstGeom>
          <a:solidFill>
            <a:srgbClr val="00E5A0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153912" y="1874520"/>
            <a:ext cx="2574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53912" y="2194560"/>
            <a:ext cx="25740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Outcome posts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63640" y="2651760"/>
            <a:ext cx="23545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on every TP / SL / BE outcome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stats footer: W/L/BE counts + total R + win rate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green for TP, red for SL, amber for BE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874252" y="1828800"/>
            <a:ext cx="2574036" cy="4114800"/>
          </a:xfrm>
          <a:prstGeom prst="rect">
            <a:avLst/>
          </a:prstGeom>
          <a:solidFill>
            <a:srgbClr val="12141B"/>
          </a:solidFill>
          <a:ln w="19050">
            <a:solidFill>
              <a:srgbClr val="9966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74252" y="1828800"/>
            <a:ext cx="2574036" cy="640080"/>
          </a:xfrm>
          <a:prstGeom prst="rect">
            <a:avLst/>
          </a:prstGeom>
          <a:solidFill>
            <a:srgbClr val="9966FF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8874252" y="1874520"/>
            <a:ext cx="2574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99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PUSH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874252" y="2194560"/>
            <a:ext cx="25740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 notifications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983980" y="2651760"/>
            <a:ext cx="23545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VAPID-signed PWA notifications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of Discord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browser closed (service worker)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Per-event: entry / BE / TP / SL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23262E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Henry The Hoover · henrythehoover.com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89920" y="64739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VALIDATION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BACKTEST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real performance · validate prompt changes against history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486400" cy="4114800"/>
          </a:xfrm>
          <a:prstGeom prst="rect">
            <a:avLst/>
          </a:prstGeom>
          <a:solidFill>
            <a:srgbClr val="12141B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20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/PERFORMANCE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stats from closed trades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697480"/>
            <a:ext cx="5074920" cy="1280160"/>
          </a:xfrm>
          <a:prstGeom prst="rect">
            <a:avLst/>
          </a:prstGeom>
          <a:solidFill>
            <a:srgbClr val="1A1D28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840480"/>
            <a:ext cx="457200" cy="-18288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3657600"/>
            <a:ext cx="457200" cy="914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3749040"/>
            <a:ext cx="457200" cy="-27432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0" y="3474720"/>
            <a:ext cx="457200" cy="-27432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3200400"/>
            <a:ext cx="457200" cy="18288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3383280"/>
            <a:ext cx="457200" cy="-27432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3108960"/>
            <a:ext cx="457200" cy="-27432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0" y="2834640"/>
            <a:ext cx="457200" cy="18288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3017520"/>
            <a:ext cx="457200" cy="-27432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2743200"/>
            <a:ext cx="457200" cy="-18288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0" y="2560320"/>
            <a:ext cx="274320" cy="22860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023360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CUMULATIVE R OVER TIME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" y="4297680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 by pair / trigger / session / hour</a:t>
            </a:r>
            <a:endParaRPr lang="en-US" sz="1100" dirty="0"/>
          </a:p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10 / Worst 10 trades</a:t>
            </a:r>
            <a:endParaRPr lang="en-US" sz="1100" dirty="0"/>
          </a:p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Expectancy per trade &amp; total R</a:t>
            </a:r>
            <a:endParaRPr lang="en-US" sz="1100" dirty="0"/>
          </a:p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Per-pair stats footer on every mini-card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1828800"/>
            <a:ext cx="5486400" cy="4114800"/>
          </a:xfrm>
          <a:prstGeom prst="rect">
            <a:avLst/>
          </a:prstGeom>
          <a:solidFill>
            <a:srgbClr val="12141B"/>
          </a:solidFill>
          <a:ln w="25400">
            <a:solidFill>
              <a:srgbClr val="00E5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1920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/BACKTEST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55080" y="22402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history through the full pipeline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55080" y="2743200"/>
            <a:ext cx="365760" cy="36576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12280" y="276148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candles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12280" y="297180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 to 30 days × any pair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355080" y="3291840"/>
            <a:ext cx="365760" cy="36576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12280" y="33101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every candle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12280" y="352044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 detection + pre-AI score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355080" y="3840480"/>
            <a:ext cx="365760" cy="36576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35" name="Text 33"/>
          <p:cNvSpPr/>
          <p:nvPr/>
        </p:nvSpPr>
        <p:spPr>
          <a:xfrm>
            <a:off x="635508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12280" y="385876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AI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12280" y="40690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Sonnet 4.6 with reduced context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55080" y="4389120"/>
            <a:ext cx="365760" cy="36576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39" name="Text 37"/>
          <p:cNvSpPr/>
          <p:nvPr/>
        </p:nvSpPr>
        <p:spPr>
          <a:xfrm>
            <a:off x="6355080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12280" y="440740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forward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812280" y="461772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Simulate entry / BE / TP / SL outcomes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355080" y="4937760"/>
            <a:ext cx="365760" cy="36576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43" name="Text 41"/>
          <p:cNvSpPr/>
          <p:nvPr/>
        </p:nvSpPr>
        <p:spPr>
          <a:xfrm>
            <a:off x="6355080" y="493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12280" y="495604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stats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12280" y="516636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 trigger / direction / hour + cum 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23262E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Henry The Hoover · henrythehoover.com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789920" y="64739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frameworks bloat — direct, fast, observable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583180" cy="1920240"/>
          </a:xfrm>
          <a:prstGeom prst="rect">
            <a:avLst/>
          </a:prstGeom>
          <a:solidFill>
            <a:srgbClr val="12141B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28800"/>
            <a:ext cx="2583180" cy="457200"/>
          </a:xfrm>
          <a:prstGeom prst="rect">
            <a:avLst/>
          </a:prstGeom>
          <a:solidFill>
            <a:srgbClr val="00D4FF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28800"/>
            <a:ext cx="2583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23088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22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modules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hosting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06140" y="1828800"/>
            <a:ext cx="2583180" cy="1920240"/>
          </a:xfrm>
          <a:prstGeom prst="rect">
            <a:avLst/>
          </a:prstGeom>
          <a:solidFill>
            <a:srgbClr val="12141B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06140" y="1828800"/>
            <a:ext cx="2583180" cy="457200"/>
          </a:xfrm>
          <a:prstGeom prst="rect">
            <a:avLst/>
          </a:prstGeom>
          <a:solidFill>
            <a:srgbClr val="00D4FF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406140" y="1828800"/>
            <a:ext cx="2583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43300" y="2377440"/>
            <a:ext cx="23088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 direct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prompt eng.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 / $15 per MTok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1828800"/>
            <a:ext cx="2583180" cy="1920240"/>
          </a:xfrm>
          <a:prstGeom prst="rect">
            <a:avLst/>
          </a:prstGeom>
          <a:solidFill>
            <a:srgbClr val="12141B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828800"/>
            <a:ext cx="2583180" cy="457200"/>
          </a:xfrm>
          <a:prstGeom prst="rect">
            <a:avLst/>
          </a:prstGeom>
          <a:solidFill>
            <a:srgbClr val="00D4FF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1828800"/>
            <a:ext cx="2583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2377440"/>
            <a:ext cx="23088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RLS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service_role key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ready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938260" y="1828800"/>
            <a:ext cx="2583180" cy="1920240"/>
          </a:xfrm>
          <a:prstGeom prst="rect">
            <a:avLst/>
          </a:prstGeom>
          <a:solidFill>
            <a:srgbClr val="12141B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38260" y="1828800"/>
            <a:ext cx="2583180" cy="457200"/>
          </a:xfrm>
          <a:prstGeom prst="rect">
            <a:avLst/>
          </a:prstGeom>
          <a:solidFill>
            <a:srgbClr val="00D4FF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938260" y="1828800"/>
            <a:ext cx="2583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075420" y="2377440"/>
            <a:ext cx="23088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(no framework)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LightweightCharts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TradingView-style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+ service worker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931920"/>
            <a:ext cx="2583180" cy="1920240"/>
          </a:xfrm>
          <a:prstGeom prst="rect">
            <a:avLst/>
          </a:prstGeom>
          <a:solidFill>
            <a:srgbClr val="12141B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931920"/>
            <a:ext cx="2583180" cy="457200"/>
          </a:xfrm>
          <a:prstGeom prst="rect">
            <a:avLst/>
          </a:prstGeom>
          <a:solidFill>
            <a:srgbClr val="00D4FF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931920"/>
            <a:ext cx="2583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4480560"/>
            <a:ext cx="23088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 cookies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 flow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link optional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Implicit-flow handling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06140" y="3931920"/>
            <a:ext cx="2583180" cy="1920240"/>
          </a:xfrm>
          <a:prstGeom prst="rect">
            <a:avLst/>
          </a:prstGeom>
          <a:solidFill>
            <a:srgbClr val="12141B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06140" y="3931920"/>
            <a:ext cx="2583180" cy="457200"/>
          </a:xfrm>
          <a:prstGeom prst="rect">
            <a:avLst/>
          </a:prstGeom>
          <a:solidFill>
            <a:srgbClr val="00D4FF">
              <a:alpha val="1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406140" y="3931920"/>
            <a:ext cx="2583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43300" y="4480560"/>
            <a:ext cx="23088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checkout (overlay)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reconciliation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verified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72200" y="3931920"/>
            <a:ext cx="2583180" cy="1920240"/>
          </a:xfrm>
          <a:prstGeom prst="rect">
            <a:avLst/>
          </a:prstGeom>
          <a:solidFill>
            <a:srgbClr val="12141B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72200" y="3931920"/>
            <a:ext cx="2583180" cy="457200"/>
          </a:xfrm>
          <a:prstGeom prst="rect">
            <a:avLst/>
          </a:prstGeom>
          <a:solidFill>
            <a:srgbClr val="00D4FF">
              <a:alpha val="1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3931920"/>
            <a:ext cx="2583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09360" y="4480560"/>
            <a:ext cx="23088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for live prices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multiplexing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Per-symbol pooling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Auto-reconnect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938260" y="3931920"/>
            <a:ext cx="2583180" cy="1920240"/>
          </a:xfrm>
          <a:prstGeom prst="rect">
            <a:avLst/>
          </a:prstGeom>
          <a:solidFill>
            <a:srgbClr val="12141B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38260" y="3931920"/>
            <a:ext cx="2583180" cy="457200"/>
          </a:xfrm>
          <a:prstGeom prst="rect">
            <a:avLst/>
          </a:prstGeom>
          <a:solidFill>
            <a:srgbClr val="00D4FF">
              <a:alpha val="1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938260" y="3931920"/>
            <a:ext cx="2583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075420" y="4480560"/>
            <a:ext cx="23088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web-push library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VAPID signed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410/404 cleanup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subs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23262E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Henry The Hoover · henrythehoover.com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789920" y="64739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300" kern="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HENRY THE HOOVER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traders who want institutional-grade signals on autopilot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YOU GET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6858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11-source AI confluence on every signal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Multi-pair concurrent scanning (21 pairs, 4 exchanges)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autonomous — works with browser closed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Pre-AI filter saves ~40% on Anthropic costs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 floor + circuit breaker + BE-stop + entry confirm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dashboard + backtest validation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(3 channels) + Web Push notifications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broker routing (gold→Polygon, crypto→user choice)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863840" y="2194560"/>
            <a:ext cx="3749040" cy="3657600"/>
          </a:xfrm>
          <a:prstGeom prst="rect">
            <a:avLst/>
          </a:prstGeom>
          <a:solidFill>
            <a:srgbClr val="12141B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2331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0" y="28346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7863840" y="3657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month · billed via Paddle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4023360"/>
            <a:ext cx="3017520" cy="0"/>
          </a:xfrm>
          <a:prstGeom prst="line">
            <a:avLst/>
          </a:prstGeom>
          <a:noFill/>
          <a:ln w="12700">
            <a:solidFill>
              <a:srgbClr val="2326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2440" y="416052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AI signals</a:t>
            </a:r>
            <a:endParaRPr lang="en-US" sz="1100" dirty="0"/>
          </a:p>
          <a:p>
            <a:pPr marL="342900" indent="-342900">
              <a:buSzPct val="100000"/>
              <a:buChar char="✓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21 watchlist pairs</a:t>
            </a:r>
            <a:endParaRPr lang="en-US" sz="1100" dirty="0"/>
          </a:p>
          <a:p>
            <a:pPr marL="342900" indent="-342900">
              <a:buSzPct val="100000"/>
              <a:buChar char="✓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Multi-exchange coverage</a:t>
            </a:r>
            <a:endParaRPr lang="en-US" sz="1100" dirty="0"/>
          </a:p>
          <a:p>
            <a:pPr marL="342900" indent="-342900">
              <a:buSzPct val="100000"/>
              <a:buChar char="✓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anytime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henrythehoover.com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23262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Henry The Hoover · henrythehoover.com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89920" y="64739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Henry The Hoover — AI Futures Trading Terminal</dc:title>
  <dc:subject>PptxGenJS Presentation</dc:subject>
  <dc:creator>Henry The Hoover</dc:creator>
  <cp:lastModifiedBy>Henry The Hoover</cp:lastModifiedBy>
  <cp:revision>1</cp:revision>
  <dcterms:created xsi:type="dcterms:W3CDTF">2026-05-09T18:07:34Z</dcterms:created>
  <dcterms:modified xsi:type="dcterms:W3CDTF">2026-05-09T18:07:34Z</dcterms:modified>
</cp:coreProperties>
</file>